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41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086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7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60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4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0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33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69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03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21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AAE1C54-00FA-41DC-B5C3-FED8D3A3ED13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39BE0B7-E52D-474A-8539-1D74A2CD7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57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08F6-9F13-4DAA-57EA-2AF7A5CC81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Manufacturing Data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26BFD-43A6-E34F-C3C8-40EC9B607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5084"/>
            <a:ext cx="9389806" cy="139618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“Challenges faced during Dashboard &amp; Report Creation”</a:t>
            </a:r>
            <a:endParaRPr lang="en-IN" sz="28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39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24B6-F3C2-57B4-B736-E3262162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u="dbl" dirty="0">
                <a:solidFill>
                  <a:srgbClr val="7030A0"/>
                </a:solidFill>
              </a:rPr>
              <a:t>Group 5</a:t>
            </a:r>
            <a:endParaRPr lang="en-IN" sz="4800" b="1" u="dbl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CF53-0155-E029-362C-6AF2E5153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Members </a:t>
            </a:r>
          </a:p>
          <a:p>
            <a:pPr marL="45720" indent="0">
              <a:buNone/>
            </a:pPr>
            <a:r>
              <a:rPr lang="en-US" sz="2000" dirty="0"/>
              <a:t>1) Kongarapu Pruthvi Babu</a:t>
            </a:r>
          </a:p>
          <a:p>
            <a:pPr marL="45720" indent="0">
              <a:buNone/>
            </a:pPr>
            <a:r>
              <a:rPr lang="en-US" sz="2000" dirty="0"/>
              <a:t>2) Shilpa S Desai</a:t>
            </a:r>
          </a:p>
          <a:p>
            <a:pPr marL="45720" indent="0">
              <a:buNone/>
            </a:pPr>
            <a:r>
              <a:rPr lang="en-US" sz="2000" dirty="0"/>
              <a:t>3) Aakash Vedwal</a:t>
            </a:r>
          </a:p>
          <a:p>
            <a:pPr marL="45720" indent="0">
              <a:buNone/>
            </a:pPr>
            <a:r>
              <a:rPr lang="en-US" sz="2000" dirty="0"/>
              <a:t>4) Tojas Chittaranjan Shah</a:t>
            </a:r>
          </a:p>
          <a:p>
            <a:pPr marL="45720" indent="0">
              <a:buNone/>
            </a:pPr>
            <a:r>
              <a:rPr lang="en-US" sz="2000" dirty="0"/>
              <a:t>5) Sruthy Premanand</a:t>
            </a:r>
          </a:p>
          <a:p>
            <a:pPr marL="45720" indent="0">
              <a:buNone/>
            </a:pPr>
            <a:r>
              <a:rPr lang="en-US" sz="2000" dirty="0"/>
              <a:t>6) Saurabh Subhashchandra Mali</a:t>
            </a:r>
          </a:p>
          <a:p>
            <a:pPr marL="45720" indent="0">
              <a:buNone/>
            </a:pPr>
            <a:r>
              <a:rPr lang="en-US" sz="2000" dirty="0"/>
              <a:t>7) Sariya Nazir Sayyed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9507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7348-68F5-D9E3-79A2-287E0849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11581" cy="873740"/>
          </a:xfrm>
        </p:spPr>
        <p:txBody>
          <a:bodyPr/>
          <a:lstStyle/>
          <a:p>
            <a:pPr algn="ctr"/>
            <a:r>
              <a:rPr lang="en-IN" b="1" dirty="0"/>
              <a:t>Data Cleaning &amp; Loading Challenges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9DA217-A084-FAA5-0233-3EB1CC34C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478791"/>
              </p:ext>
            </p:extLst>
          </p:nvPr>
        </p:nvGraphicFramePr>
        <p:xfrm>
          <a:off x="1143000" y="1533832"/>
          <a:ext cx="9872661" cy="4847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90887">
                  <a:extLst>
                    <a:ext uri="{9D8B030D-6E8A-4147-A177-3AD203B41FA5}">
                      <a16:colId xmlns:a16="http://schemas.microsoft.com/office/drawing/2014/main" val="2375846454"/>
                    </a:ext>
                  </a:extLst>
                </a:gridCol>
                <a:gridCol w="3290887">
                  <a:extLst>
                    <a:ext uri="{9D8B030D-6E8A-4147-A177-3AD203B41FA5}">
                      <a16:colId xmlns:a16="http://schemas.microsoft.com/office/drawing/2014/main" val="4146954649"/>
                    </a:ext>
                  </a:extLst>
                </a:gridCol>
                <a:gridCol w="3290887">
                  <a:extLst>
                    <a:ext uri="{9D8B030D-6E8A-4147-A177-3AD203B41FA5}">
                      <a16:colId xmlns:a16="http://schemas.microsoft.com/office/drawing/2014/main" val="2120208366"/>
                    </a:ext>
                  </a:extLst>
                </a:gridCol>
              </a:tblGrid>
              <a:tr h="100076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Challenge </a:t>
                      </a:r>
                      <a:endParaRPr lang="en-IN" sz="2000" dirty="0"/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Description</a:t>
                      </a:r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How We Overcame It</a:t>
                      </a:r>
                    </a:p>
                  </a:txBody>
                  <a:tcPr marL="85849" marR="85849"/>
                </a:tc>
                <a:extLst>
                  <a:ext uri="{0D108BD9-81ED-4DB2-BD59-A6C34878D82A}">
                    <a16:rowId xmlns:a16="http://schemas.microsoft.com/office/drawing/2014/main" val="2176845950"/>
                  </a:ext>
                </a:extLst>
              </a:tr>
              <a:tr h="815094">
                <a:tc>
                  <a:txBody>
                    <a:bodyPr/>
                    <a:lstStyle/>
                    <a:p>
                      <a:r>
                        <a:rPr lang="en-IN" sz="1600" b="1" dirty="0"/>
                        <a:t>Missing Values</a:t>
                      </a:r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Some columns like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</a:rPr>
                        <a:t>Machine Code</a:t>
                      </a:r>
                      <a:r>
                        <a:rPr lang="en-US" sz="1600" dirty="0"/>
                        <a:t> had missing data.</a:t>
                      </a:r>
                      <a:endParaRPr lang="en-IN" sz="1600" dirty="0"/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Filled blanks with “Unknown” / “NA” or Remove blanks</a:t>
                      </a:r>
                      <a:endParaRPr lang="en-IN" sz="1600" dirty="0"/>
                    </a:p>
                  </a:txBody>
                  <a:tcPr marL="85849" marR="85849"/>
                </a:tc>
                <a:extLst>
                  <a:ext uri="{0D108BD9-81ED-4DB2-BD59-A6C34878D82A}">
                    <a16:rowId xmlns:a16="http://schemas.microsoft.com/office/drawing/2014/main" val="1602564361"/>
                  </a:ext>
                </a:extLst>
              </a:tr>
              <a:tr h="1015342">
                <a:tc>
                  <a:txBody>
                    <a:bodyPr/>
                    <a:lstStyle/>
                    <a:p>
                      <a:r>
                        <a:rPr lang="en-IN" sz="1600" b="1" dirty="0"/>
                        <a:t>Date Format Issues</a:t>
                      </a:r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 Date</a:t>
                      </a:r>
                      <a:r>
                        <a:rPr lang="en-US" sz="1600" dirty="0"/>
                        <a:t> had mixed formats or was not recognized properly during import.</a:t>
                      </a:r>
                      <a:endParaRPr lang="en-IN" sz="1600" dirty="0"/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Converted all dates into a single standard format (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YYYY-MM-DD</a:t>
                      </a:r>
                      <a:r>
                        <a:rPr lang="en-US" sz="1600" dirty="0"/>
                        <a:t>)</a:t>
                      </a:r>
                    </a:p>
                    <a:p>
                      <a:r>
                        <a:rPr lang="en-US" sz="1600" dirty="0"/>
                        <a:t>Or (DD-MM-YYY).</a:t>
                      </a:r>
                      <a:endParaRPr lang="en-IN" sz="1600" dirty="0"/>
                    </a:p>
                  </a:txBody>
                  <a:tcPr marL="85849" marR="85849"/>
                </a:tc>
                <a:extLst>
                  <a:ext uri="{0D108BD9-81ED-4DB2-BD59-A6C34878D82A}">
                    <a16:rowId xmlns:a16="http://schemas.microsoft.com/office/drawing/2014/main" val="3379393773"/>
                  </a:ext>
                </a:extLst>
              </a:tr>
              <a:tr h="1015342">
                <a:tc>
                  <a:txBody>
                    <a:bodyPr/>
                    <a:lstStyle/>
                    <a:p>
                      <a:r>
                        <a:rPr lang="en-IN" sz="1600" b="1" dirty="0"/>
                        <a:t>Numeric Formatting</a:t>
                      </a:r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Columns like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 Num</a:t>
                      </a:r>
                      <a:r>
                        <a:rPr lang="en-US" sz="1600" dirty="0"/>
                        <a:t>,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Qty</a:t>
                      </a:r>
                      <a:r>
                        <a:rPr lang="en-US" sz="1600" dirty="0"/>
                        <a:t>,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 Qty</a:t>
                      </a:r>
                      <a:r>
                        <a:rPr lang="en-US" sz="1600" dirty="0"/>
                        <a:t> were stored as float instead of integer.</a:t>
                      </a:r>
                      <a:endParaRPr lang="en-IN" sz="1600" dirty="0"/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Rounded off or changed data types to integer for correct aggregation.</a:t>
                      </a:r>
                      <a:endParaRPr lang="en-IN" sz="1600" dirty="0"/>
                    </a:p>
                  </a:txBody>
                  <a:tcPr marL="85849" marR="85849"/>
                </a:tc>
                <a:extLst>
                  <a:ext uri="{0D108BD9-81ED-4DB2-BD59-A6C34878D82A}">
                    <a16:rowId xmlns:a16="http://schemas.microsoft.com/office/drawing/2014/main" val="2734230497"/>
                  </a:ext>
                </a:extLst>
              </a:tr>
              <a:tr h="1000763">
                <a:tc>
                  <a:txBody>
                    <a:bodyPr/>
                    <a:lstStyle/>
                    <a:p>
                      <a:r>
                        <a:rPr lang="en-IN" sz="1600" b="1" dirty="0"/>
                        <a:t>Large File Handling</a:t>
                      </a:r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10K+ rows sometimes caused Power BI and Excel to load slowly.</a:t>
                      </a:r>
                      <a:endParaRPr lang="en-IN" sz="1600" dirty="0"/>
                    </a:p>
                  </a:txBody>
                  <a:tcPr marL="85849" marR="85849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data model optimization (import mode) and reduced unnecessary columns.</a:t>
                      </a:r>
                      <a:endParaRPr lang="en-IN" sz="1600" dirty="0"/>
                    </a:p>
                  </a:txBody>
                  <a:tcPr marL="85849" marR="85849"/>
                </a:tc>
                <a:extLst>
                  <a:ext uri="{0D108BD9-81ED-4DB2-BD59-A6C34878D82A}">
                    <a16:rowId xmlns:a16="http://schemas.microsoft.com/office/drawing/2014/main" val="2059255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67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03AC9-4740-AE3F-E058-D1DC8FE8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897"/>
            <a:ext cx="10950676" cy="1037303"/>
          </a:xfrm>
        </p:spPr>
        <p:txBody>
          <a:bodyPr>
            <a:normAutofit/>
          </a:bodyPr>
          <a:lstStyle/>
          <a:p>
            <a:r>
              <a:rPr lang="en-US" sz="3600" b="1" dirty="0"/>
              <a:t>Excel Module (Data Cleaning &amp; Visuals)</a:t>
            </a:r>
            <a:br>
              <a:rPr lang="en-US" sz="3600" dirty="0"/>
            </a:br>
            <a:r>
              <a:rPr lang="en-IN" sz="2800" b="1" dirty="0">
                <a:solidFill>
                  <a:srgbClr val="FF0000"/>
                </a:solidFill>
              </a:rPr>
              <a:t>Challenges Faced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E1DE92-C6A2-F278-26BD-AB8619EA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8026"/>
            <a:ext cx="11058833" cy="510294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Missing and Blank Data</a:t>
            </a:r>
            <a:endParaRPr lang="en-US" dirty="0"/>
          </a:p>
          <a:p>
            <a:pPr lvl="1"/>
            <a:r>
              <a:rPr lang="en-US" sz="2600" dirty="0"/>
              <a:t>Some records (like Machine Code and Designer) were missing.</a:t>
            </a:r>
          </a:p>
          <a:p>
            <a:pPr lvl="1"/>
            <a:r>
              <a:rPr lang="en-US" sz="2600" dirty="0"/>
              <a:t>This affected totals and average calculations.</a:t>
            </a:r>
          </a:p>
          <a:p>
            <a:r>
              <a:rPr lang="en-US" b="1" dirty="0"/>
              <a:t>Date Format Mismatch</a:t>
            </a:r>
            <a:endParaRPr lang="en-US" dirty="0"/>
          </a:p>
          <a:p>
            <a:pPr lvl="1"/>
            <a:r>
              <a:rPr lang="en-US" sz="2600" dirty="0"/>
              <a:t>The Doc Date column was not in the same format (some as text, some as dates).</a:t>
            </a:r>
          </a:p>
          <a:p>
            <a:pPr lvl="1"/>
            <a:r>
              <a:rPr lang="en-US" sz="2600" dirty="0"/>
              <a:t>Filtering by month or year was giving wrong results.</a:t>
            </a:r>
          </a:p>
          <a:p>
            <a:r>
              <a:rPr lang="en-US" b="1" dirty="0"/>
              <a:t>Text Inconsistencies</a:t>
            </a:r>
            <a:endParaRPr lang="en-US" dirty="0"/>
          </a:p>
          <a:p>
            <a:pPr lvl="1"/>
            <a:r>
              <a:rPr lang="en-US" sz="2600" dirty="0"/>
              <a:t>Fields like Department Name and Buyer had spelling variations and extra spaces (e.g., “Printed Fabric”, “printed fabric”).</a:t>
            </a:r>
          </a:p>
          <a:p>
            <a:pPr lvl="1"/>
            <a:r>
              <a:rPr lang="en-US" sz="2600" dirty="0"/>
              <a:t>Caused issues while creating pivot tables.</a:t>
            </a:r>
          </a:p>
          <a:p>
            <a:r>
              <a:rPr lang="en-US" sz="2600" b="1" dirty="0"/>
              <a:t>File Size &amp; Performance</a:t>
            </a:r>
            <a:endParaRPr lang="en-US" sz="2600" dirty="0"/>
          </a:p>
          <a:p>
            <a:pPr lvl="1"/>
            <a:r>
              <a:rPr lang="en-US" sz="2600" dirty="0"/>
              <a:t>With over 10K records, Excel became slow while refreshing large pivot charts.</a:t>
            </a:r>
          </a:p>
          <a:p>
            <a:r>
              <a:rPr lang="en-US" b="1" dirty="0"/>
              <a:t> How We Solved</a:t>
            </a:r>
          </a:p>
          <a:p>
            <a:r>
              <a:rPr lang="en-US" dirty="0"/>
              <a:t>Used TRIM, PROPER, and Remove Duplicates for text cleaning.</a:t>
            </a:r>
          </a:p>
          <a:p>
            <a:r>
              <a:rPr lang="en-US" dirty="0"/>
              <a:t>Converted all dates using Text-to-Columns or DATEVALUE().</a:t>
            </a:r>
          </a:p>
          <a:p>
            <a:r>
              <a:rPr lang="en-US" dirty="0"/>
              <a:t>Reduced unnecessary columns and saved the cleaned sheet as “Base Data” for import to Power BI.</a:t>
            </a:r>
          </a:p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A3E263-6B13-2D67-3954-6FE609AA1D3E}"/>
              </a:ext>
            </a:extLst>
          </p:cNvPr>
          <p:cNvCxnSpPr>
            <a:cxnSpLocks/>
          </p:cNvCxnSpPr>
          <p:nvPr/>
        </p:nvCxnSpPr>
        <p:spPr>
          <a:xfrm>
            <a:off x="838200" y="1209368"/>
            <a:ext cx="109506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31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E0BC-B58A-B758-B957-0491FC5C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1081547"/>
          </a:xfrm>
        </p:spPr>
        <p:txBody>
          <a:bodyPr>
            <a:normAutofit/>
          </a:bodyPr>
          <a:lstStyle/>
          <a:p>
            <a:r>
              <a:rPr lang="en-US" sz="3600" b="1" dirty="0"/>
              <a:t>Power BI Module (Main Dashboard Creation)</a:t>
            </a:r>
            <a:br>
              <a:rPr lang="en-US" b="1" dirty="0"/>
            </a:br>
            <a:r>
              <a:rPr lang="en-US" sz="2800" b="1" dirty="0">
                <a:solidFill>
                  <a:srgbClr val="FF0000"/>
                </a:solidFill>
              </a:rPr>
              <a:t>Challenges Faced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CA45-2175-28D3-C3DB-64D6532A8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204"/>
            <a:ext cx="10822858" cy="480218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 Type Errors</a:t>
            </a:r>
            <a:endParaRPr lang="en-US" dirty="0"/>
          </a:p>
          <a:p>
            <a:pPr lvl="1"/>
            <a:r>
              <a:rPr lang="en-US" dirty="0"/>
              <a:t>Some columns imported as “Text” instead of “Number” (like Total Qty, WO Qty).</a:t>
            </a:r>
          </a:p>
          <a:p>
            <a:pPr lvl="1"/>
            <a:r>
              <a:rPr lang="en-US" dirty="0"/>
              <a:t>Caused errors in measure calculations.</a:t>
            </a:r>
          </a:p>
          <a:p>
            <a:r>
              <a:rPr lang="en-US" b="1" dirty="0"/>
              <a:t>Relationship Issues</a:t>
            </a:r>
            <a:endParaRPr lang="en-US" dirty="0"/>
          </a:p>
          <a:p>
            <a:pPr lvl="1"/>
            <a:r>
              <a:rPr lang="en-US" dirty="0"/>
              <a:t>No proper unique ID between tables (Emp, Machine, Department).</a:t>
            </a:r>
          </a:p>
          <a:p>
            <a:pPr lvl="1"/>
            <a:r>
              <a:rPr lang="en-US" dirty="0"/>
              <a:t>Difficult to build data model relationships.</a:t>
            </a:r>
          </a:p>
          <a:p>
            <a:r>
              <a:rPr lang="en-US" b="1" dirty="0"/>
              <a:t>Incorrect KPI Calculations</a:t>
            </a:r>
            <a:endParaRPr lang="en-US" dirty="0"/>
          </a:p>
          <a:p>
            <a:pPr lvl="1"/>
            <a:r>
              <a:rPr lang="en-US" dirty="0"/>
              <a:t>Measures like </a:t>
            </a:r>
            <a:r>
              <a:rPr lang="en-US" i="1" dirty="0"/>
              <a:t>Wastage Qty = Rejected – Repeat</a:t>
            </a:r>
            <a:r>
              <a:rPr lang="en-US" dirty="0"/>
              <a:t> gave wrong results when blank values existed.</a:t>
            </a:r>
          </a:p>
          <a:p>
            <a:r>
              <a:rPr lang="en-US" b="1" dirty="0"/>
              <a:t>Performance Slowness</a:t>
            </a:r>
            <a:endParaRPr lang="en-US" dirty="0"/>
          </a:p>
          <a:p>
            <a:pPr lvl="1"/>
            <a:r>
              <a:rPr lang="en-US" dirty="0"/>
              <a:t>Dashboard visuals took time to refresh due to the size of dataset.</a:t>
            </a:r>
          </a:p>
          <a:p>
            <a:r>
              <a:rPr lang="en-US" b="1" dirty="0"/>
              <a:t> How We Solved</a:t>
            </a:r>
          </a:p>
          <a:p>
            <a:r>
              <a:rPr lang="en-US" dirty="0"/>
              <a:t>Changed column data types in </a:t>
            </a:r>
            <a:r>
              <a:rPr lang="en-US" b="1" dirty="0"/>
              <a:t>Power Query Editor</a:t>
            </a:r>
            <a:r>
              <a:rPr lang="en-US" dirty="0"/>
              <a:t>.</a:t>
            </a:r>
          </a:p>
          <a:p>
            <a:r>
              <a:rPr lang="en-US" dirty="0"/>
              <a:t>Created custom relationships manually (e.g., Emp Code ↔ Employee Table).</a:t>
            </a:r>
          </a:p>
          <a:p>
            <a:r>
              <a:rPr lang="en-US" dirty="0"/>
              <a:t>Replaced nulls with 0 using COALESCE() in DAX.</a:t>
            </a:r>
          </a:p>
          <a:p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66F346-E8FA-EA1E-E97C-317A32515E8D}"/>
              </a:ext>
            </a:extLst>
          </p:cNvPr>
          <p:cNvCxnSpPr>
            <a:cxnSpLocks/>
          </p:cNvCxnSpPr>
          <p:nvPr/>
        </p:nvCxnSpPr>
        <p:spPr>
          <a:xfrm>
            <a:off x="943896" y="1219200"/>
            <a:ext cx="107171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21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6807-D789-FA6B-2793-0D82A004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787"/>
            <a:ext cx="10515600" cy="100288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Tableau Module (Visualization &amp; Trend Analysis)</a:t>
            </a:r>
            <a:br>
              <a:rPr lang="en-US" b="1" dirty="0"/>
            </a:br>
            <a:r>
              <a:rPr lang="en-US" sz="3100" b="1" dirty="0">
                <a:solidFill>
                  <a:srgbClr val="FF0000"/>
                </a:solidFill>
              </a:rPr>
              <a:t> Challenges Faced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21577-B57F-9C5E-D47C-9D428397E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0"/>
            <a:ext cx="10842524" cy="5289755"/>
          </a:xfrm>
        </p:spPr>
        <p:txBody>
          <a:bodyPr>
            <a:normAutofit fontScale="70000" lnSpcReduction="20000"/>
          </a:bodyPr>
          <a:lstStyle/>
          <a:p>
            <a:r>
              <a:rPr lang="en-US" sz="2300" b="1" dirty="0"/>
              <a:t>Excel Import Issues</a:t>
            </a:r>
          </a:p>
          <a:p>
            <a:pPr lvl="1"/>
            <a:r>
              <a:rPr lang="en-US" sz="2900" dirty="0"/>
              <a:t>Some columns from Excel weren’t detected automatically during import (especially numeric ones stored as text).</a:t>
            </a:r>
          </a:p>
          <a:p>
            <a:r>
              <a:rPr lang="en-US" sz="2300" b="1" dirty="0"/>
              <a:t>Field Naming Confusion</a:t>
            </a:r>
            <a:endParaRPr lang="en-US" sz="2300" dirty="0"/>
          </a:p>
          <a:p>
            <a:pPr lvl="1"/>
            <a:r>
              <a:rPr lang="en-US" sz="2900" dirty="0"/>
              <a:t>Field names were long or had spaces (e.g., today Manufactured qty), making formulas messy.</a:t>
            </a:r>
          </a:p>
          <a:p>
            <a:r>
              <a:rPr lang="en-US" sz="2300" b="1" dirty="0"/>
              <a:t>Filter and Sorting Conflicts</a:t>
            </a:r>
            <a:endParaRPr lang="en-US" sz="2300" dirty="0"/>
          </a:p>
          <a:p>
            <a:pPr lvl="1"/>
            <a:r>
              <a:rPr lang="en-US" sz="2900" dirty="0"/>
              <a:t>When multiple filters (like Buyer, Dept, and Emp) were added, visuals overlapped or gave conflicting data.</a:t>
            </a:r>
          </a:p>
          <a:p>
            <a:r>
              <a:rPr lang="en-US" sz="2300" b="1" dirty="0"/>
              <a:t>Trend Line Misalignment</a:t>
            </a:r>
            <a:endParaRPr lang="en-US" sz="2300" dirty="0"/>
          </a:p>
          <a:p>
            <a:pPr lvl="1"/>
            <a:r>
              <a:rPr lang="en-US" sz="2900" dirty="0"/>
              <a:t>Month and date values weren’t sorted properly due to mixed data types.</a:t>
            </a:r>
          </a:p>
          <a:p>
            <a:r>
              <a:rPr lang="en-US" sz="2300" b="1" dirty="0"/>
              <a:t>Performance Lag</a:t>
            </a:r>
            <a:endParaRPr lang="en-US" sz="2300" dirty="0"/>
          </a:p>
          <a:p>
            <a:pPr lvl="1"/>
            <a:r>
              <a:rPr lang="en-US" sz="2900" dirty="0"/>
              <a:t>Large dataset made the dashboard slow while adding multiple sheets or KPIs.</a:t>
            </a:r>
          </a:p>
          <a:p>
            <a:r>
              <a:rPr lang="en-US" sz="2300" b="1" dirty="0"/>
              <a:t> How We Solved</a:t>
            </a:r>
          </a:p>
          <a:p>
            <a:r>
              <a:rPr lang="en-US" sz="2300" dirty="0"/>
              <a:t>Renamed fields with clear, short names in Tableau Prep or during import.</a:t>
            </a:r>
          </a:p>
          <a:p>
            <a:r>
              <a:rPr lang="en-US" sz="2300" dirty="0"/>
              <a:t>Fixed filter logic using Context Filters.</a:t>
            </a:r>
          </a:p>
          <a:p>
            <a:r>
              <a:rPr lang="en-US" sz="2300" dirty="0"/>
              <a:t>Created calculated fields for correct trend sorting (using DATEPARSE).</a:t>
            </a:r>
          </a:p>
          <a:p>
            <a:r>
              <a:rPr lang="en-US" sz="2300" dirty="0"/>
              <a:t>Extracted data instead of live connection for faster loading.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48569F-FE2C-796D-8C5B-AB9CA6B17F80}"/>
              </a:ext>
            </a:extLst>
          </p:cNvPr>
          <p:cNvCxnSpPr/>
          <p:nvPr/>
        </p:nvCxnSpPr>
        <p:spPr>
          <a:xfrm>
            <a:off x="808704" y="1209367"/>
            <a:ext cx="10872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54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1647-D9E0-0CA9-E121-4BC3188B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786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SQL Module (Queries &amp; Data Preparation)</a:t>
            </a:r>
            <a:br>
              <a:rPr lang="en-US" sz="4000" b="1" dirty="0"/>
            </a:b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3100" b="1" dirty="0">
                <a:solidFill>
                  <a:srgbClr val="FF0000"/>
                </a:solidFill>
              </a:rPr>
              <a:t>Challenges Faced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A7D29-7D6C-96F7-48E9-F09A0404A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4334"/>
            <a:ext cx="10842523" cy="498854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Date Format Error</a:t>
            </a:r>
            <a:endParaRPr lang="en-US" dirty="0"/>
          </a:p>
          <a:p>
            <a:pPr lvl="1"/>
            <a:r>
              <a:rPr lang="en-US" dirty="0"/>
              <a:t>Doc_Date column caused query failure because it was stored as text.</a:t>
            </a:r>
          </a:p>
          <a:p>
            <a:r>
              <a:rPr lang="en-US" b="1" dirty="0"/>
              <a:t>Null &amp; Zero Handling</a:t>
            </a:r>
            <a:endParaRPr lang="en-US" dirty="0"/>
          </a:p>
          <a:p>
            <a:pPr lvl="1"/>
            <a:r>
              <a:rPr lang="en-US" dirty="0"/>
              <a:t>Calculating wastage % (Rejected / Manufactured) gave division errors when manufactured qty = 0.</a:t>
            </a:r>
          </a:p>
          <a:p>
            <a:r>
              <a:rPr lang="en-US" b="1" dirty="0"/>
              <a:t>Query Optimization</a:t>
            </a:r>
            <a:endParaRPr lang="en-US" dirty="0"/>
          </a:p>
          <a:p>
            <a:pPr lvl="1"/>
            <a:r>
              <a:rPr lang="en-US" dirty="0"/>
              <a:t>Queries like GROUP BY Department became slow due to large data volume.</a:t>
            </a:r>
          </a:p>
          <a:p>
            <a:r>
              <a:rPr lang="en-US" b="1" dirty="0"/>
              <a:t>Data Type Mismatch</a:t>
            </a:r>
            <a:endParaRPr lang="en-US" dirty="0"/>
          </a:p>
          <a:p>
            <a:pPr lvl="1"/>
            <a:r>
              <a:rPr lang="en-US" dirty="0"/>
              <a:t>Some numeric columns (like Total Value) were stored as float with unnecessary decimals.</a:t>
            </a:r>
          </a:p>
          <a:p>
            <a:r>
              <a:rPr lang="en-US" b="1" dirty="0"/>
              <a:t>How We Solved</a:t>
            </a:r>
          </a:p>
          <a:p>
            <a:r>
              <a:rPr lang="en-US" dirty="0"/>
              <a:t>Used STR_TO_DATE() or CONVERT() to fix date issues.</a:t>
            </a:r>
          </a:p>
          <a:p>
            <a:r>
              <a:rPr lang="en-US" dirty="0"/>
              <a:t>Used NULLIF() and COALESCE() for divide-by-zero and null handling.</a:t>
            </a:r>
          </a:p>
          <a:p>
            <a:r>
              <a:rPr lang="en-US" dirty="0"/>
              <a:t>Applied TRIM() and UPPER() to clean text while grouping.</a:t>
            </a:r>
          </a:p>
          <a:p>
            <a:r>
              <a:rPr lang="en-US" dirty="0"/>
              <a:t>Rounded numbers for better readability in reports.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00027E-718D-2D03-F0E3-6F4365922FA7}"/>
              </a:ext>
            </a:extLst>
          </p:cNvPr>
          <p:cNvCxnSpPr/>
          <p:nvPr/>
        </p:nvCxnSpPr>
        <p:spPr>
          <a:xfrm>
            <a:off x="828367" y="1229032"/>
            <a:ext cx="108523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62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2610-EB50-FE81-80E2-77DC3088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>
                    <a:lumMod val="75000"/>
                  </a:schemeClr>
                </a:solidFill>
              </a:rPr>
              <a:t>Summary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CFF00-DFEE-82B4-4BB1-58BEA54F7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Clean data first → before connecting to the tools.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Define clear data relationships for correct KPI calculations.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Always handle null, blank, and format mismatches early.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Optimize visuals and queries for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1008381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30</TotalTime>
  <Words>812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Corbel</vt:lpstr>
      <vt:lpstr>Wingdings</vt:lpstr>
      <vt:lpstr>Basis</vt:lpstr>
      <vt:lpstr>Manufacturing Data </vt:lpstr>
      <vt:lpstr>Group 5</vt:lpstr>
      <vt:lpstr>Data Cleaning &amp; Loading Challenges</vt:lpstr>
      <vt:lpstr>Excel Module (Data Cleaning &amp; Visuals) Challenges Faced</vt:lpstr>
      <vt:lpstr>Power BI Module (Main Dashboard Creation) Challenges Faced</vt:lpstr>
      <vt:lpstr>Tableau Module (Visualization &amp; Trend Analysis)  Challenges Faced </vt:lpstr>
      <vt:lpstr>SQL Module (Queries &amp; Data Preparation)  Challenges Faced </vt:lpstr>
      <vt:lpstr>Summary – What We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Vedwal</dc:creator>
  <cp:lastModifiedBy>Aakash Vedwal</cp:lastModifiedBy>
  <cp:revision>2</cp:revision>
  <dcterms:created xsi:type="dcterms:W3CDTF">2025-10-26T07:59:25Z</dcterms:created>
  <dcterms:modified xsi:type="dcterms:W3CDTF">2025-10-27T17:06:29Z</dcterms:modified>
</cp:coreProperties>
</file>